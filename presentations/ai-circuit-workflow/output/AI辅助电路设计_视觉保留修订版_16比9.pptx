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775ec8f68364b39" /><Relationship Type="http://schemas.openxmlformats.org/officeDocument/2006/relationships/extended-properties" Target="/docProps/app.xml" Id="R4c358c7f46d84b88" /><Relationship Type="http://schemas.openxmlformats.org/officeDocument/2006/relationships/officeDocument" Target="/ppt/presentation.xml" Id="Rdabdc7c2b1334e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c6636d86f724b2f"/>
  </p:sldMasterIdLst>
  <p:notesMasterIdLst>
    <p:notesMasterId xmlns:r="http://schemas.openxmlformats.org/officeDocument/2006/relationships" r:id="Rd104639129a54646"/>
  </p:notesMasterIdLst>
  <p:sldIdLst>
    <p:sldId xmlns:r="http://schemas.openxmlformats.org/officeDocument/2006/relationships" id="256" r:id="R7043cd84e29240de"/>
    <p:sldId xmlns:r="http://schemas.openxmlformats.org/officeDocument/2006/relationships" id="257" r:id="R903f0f20763143d6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664f45f872f4a81" /><Relationship Type="http://schemas.openxmlformats.org/officeDocument/2006/relationships/slideMaster" Target="/ppt/slideMasters/slideMaster1.xml" Id="Rbc6636d86f724b2f" /><Relationship Type="http://schemas.openxmlformats.org/officeDocument/2006/relationships/notesMaster" Target="/ppt/notesMasters/notesMaster1.xml" Id="Rd104639129a54646" /><Relationship Type="http://schemas.openxmlformats.org/officeDocument/2006/relationships/presProps" Target="/ppt/presProps.xml" Id="R02f6d8ecf2864309" /><Relationship Type="http://schemas.openxmlformats.org/officeDocument/2006/relationships/tableStyles" Target="/ppt/tableStyles.xml" Id="R6c947685e08247ae" /><Relationship Type="http://schemas.openxmlformats.org/officeDocument/2006/relationships/slide" Target="/ppt/slides/slide1.xml" Id="R7043cd84e29240de" /><Relationship Type="http://schemas.openxmlformats.org/officeDocument/2006/relationships/slide" Target="/ppt/slides/slide2.xml" Id="R903f0f20763143d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b73c0b171f348e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6fb5425212d4752" /><Relationship Type="http://schemas.openxmlformats.org/officeDocument/2006/relationships/notesMaster" Target="/ppt/notesMasters/notesMaster1.xml" Id="Re4ac3a516f1a4bf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fbcac66e7b44045" /><Relationship Type="http://schemas.openxmlformats.org/officeDocument/2006/relationships/notesMaster" Target="/ppt/notesMasters/notesMaster1.xml" Id="Rfcb7d2604b1147d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数据来源：results_v3/REPORT.md、top10.csv、timings.csv、spice/rank01_vt0.5_beta1.cir、spice_top10_summary.json。公开工程 https://github.com/cyjjjj-21/amoled-ai-pixel-circuit-screening/tree/890b14483b0c3f0e4e234ffc418161ab405a5755/results_v3 。结构筛选逐级3024、1701、1134、118、38、5，5个实现共享G-S与G-X核心电容连接。55296为降阶动态评估，90为Top10各9场景的ngspice行为瞬态验证，未使用真实IGZO PDK。代表点为P3-196fd81247，结构S3-fd65244088，时序T3-19，存储640fF、耦合20fF，寄生条件下写入增益0.0301659，9场景最坏源极敏感度约0.748%。该候选9场景最大过驱误差111.462mV，最坏保持变化1.320mV，低beta时有限补偿不足。有限域稳定性优先，非全局综合最优。时序图按阶段等宽，RESET0.5us、COMP128us、PREP0.2us、WRITE0.05us，三段非重叠各0.02us，总寻址128.81us。GC同时控制GREF和XANCHOR，SC控制SCLAMP，DC控制DATA，EC控制EM。ON表示受控开关导通，不直接对应LTPS/IGZO物理栅压。开关级骨架中五个开关对应五只开关TFT，加一只IGZO驱动管。OLED符号表示发光负载位置，验证网表用外部源扰动替代真实OLED I-V/C-V。两张图为基于网表生成的高分辨率图片，未作为新增仿真证据。</a:t>
            </a:r>
          </a:p>
          <a:p xmlns:a="http://schemas.openxmlformats.org/drawingml/2006/main">
            <a:r>
              <a:t>枚举筛选图表达候选生成、约束筛选和优选的关系。图中节点数量、筛板孔洞和缩略波形不对应真实网表或新增测量。精确数量以原生文本统计和来源CSV为准。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研究架构方案，尚未在该像素工程实现或训练，不是已验证性能提升。图与阶段状态包含器件/网络节点、D/G/S端口属性、固定电源及DATA/OLED端口角色、阶段顺序与开关掩码，带属性同构保留物理语义。普通梯度不直接对离散连线求导，图语法/进化/策略梯度方法承担离散候选生成。连续内层可先使用多保真贝叶斯优化，积累真实仿真样本后训练神经性能代理并对代理使用梯度下降或Adam，多起点降低局部极值风险。代理更新不等于物理求解器可微，代理建议必须由SPICE验证。降阶预筛要保留不确定候选和随机抽查，避免把代理偏差当成电路失败。硬约束过滤后用多指标Pareto前沿而非擅自加权总分，最终入围者在统一模型、测试台及复核预算下比较。失败记录参与后续提案与合法性学习。外层按已调优的性能向量更新结构搜索，内层按仿真反馈更新代理，图的两个回路表示这两种不同反馈。GOA需另建级联、时钟、负载和老化测试台，图论连接优化和布局布线几何优化不可混同。新颖性还需对照文献/专利和同预算基线。图中优化器为方案，图中散点和等高线仅表述算法关系，没有实测数值。来源：AstRL https://arxiv.org/abs/2602.12402 （2026年图生成和仿真反馈研究，不等于已在IGZO像素/GOA验证）；多保真贝叶斯模拟电路优化 https://arxiv.org/abs/1912.00392 ；LLM优化器提案范式 https://arxiv.org/abs/2309.03409 ；带属性同构 https://networkx.org/documentation/stable/reference/algorithms/generated/networkx.algorithms.isomorphism.is_isomorphic.html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0319631fe3424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8be2921f41b451e" /><Relationship Type="http://schemas.openxmlformats.org/officeDocument/2006/relationships/slideLayout" Target="/ppt/slideLayouts/slideLayout1.xml" Id="Re1bdf0ee616f4b7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bdf0ee616f4b7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e59f69c261406a" /><Relationship Type="http://schemas.openxmlformats.org/officeDocument/2006/relationships/image" Target="/ppt/media/image.png" Id="R3ffe0219148d4e61" /><Relationship Type="http://schemas.openxmlformats.org/officeDocument/2006/relationships/image" Target="/ppt/media/image2.png" Id="Ra9d89b25a08f4b4d" /><Relationship Type="http://schemas.openxmlformats.org/officeDocument/2006/relationships/image" Target="/ppt/media/image3.png" Id="R16197c97f6eb44c0" /><Relationship Type="http://schemas.openxmlformats.org/officeDocument/2006/relationships/notesSlide" Target="/ppt/notesSlides/notesSlide1.xml" Id="Rfe692520560b49c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2464b4fadb4d25" /><Relationship Type="http://schemas.openxmlformats.org/officeDocument/2006/relationships/image" Target="/ppt/media/image4.png" Id="R90ae17967fc84be2" /><Relationship Type="http://schemas.openxmlformats.org/officeDocument/2006/relationships/notesSlide" Target="/ppt/notesSlides/notesSlide2.xml" Id="Rf1ef04ffa127472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title">
            <a:extLst xmlns:a="http://schemas.openxmlformats.org/drawingml/2006/main">
              <a:ext uri="{FF2B5EF4-FFF2-40B4-BE49-F238E27FC236}">
                <a16:creationId xmlns:a16="http://schemas.microsoft.com/office/drawing/2014/main" id="{C8E7387B-E157-43BF-82F5-8ABAAA38F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695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2B40"/>
                </a:solidFill>
                <a:latin typeface="Heiti TC"/>
                <a:ea typeface="Heiti TC"/>
                <a:cs typeface="Heiti TC"/>
              </a:defRPr>
            </a:pPr>
            <a:r>
              <a:rPr sz="4350" b="1">
                <a:solidFill>
                  <a:srgbClr val="172B40"/>
                </a:solidFill>
                <a:latin typeface="Heiti TC"/>
                <a:ea typeface="Heiti TC"/>
                <a:cs typeface="Heiti TC"/>
              </a:rPr>
              <a:t>工程师如何借助 AI，找到更优电路设计？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694CD22-06C2-43B6-BA43-BCF99952A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85875"/>
            <a:ext cx="1676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36578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36578"/>
                </a:solidFill>
                <a:latin typeface="Heiti TC"/>
                <a:ea typeface="Heiti TC"/>
                <a:cs typeface="Heiti TC"/>
              </a:rPr>
              <a:t>用自然语言定义需求，AI 复用器件模型、网表与脚本，完成拓扑和时序筛选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fe0219148d4e61"/>
          <a:stretch xmlns:a="http://schemas.openxmlformats.org/drawingml/2006/main"/>
        </p:blipFill>
        <p:spPr>
          <a:xfrm xmlns:a="http://schemas.openxmlformats.org/drawingml/2006/main">
            <a:off x="671524" y="1952625"/>
            <a:ext cx="10182202" cy="4419600"/>
          </a:xfrm>
          <a:prstGeom xmlns:a="http://schemas.openxmlformats.org/drawingml/2006/main" prst="rect">
            <a:avLst/>
          </a:prstGeom>
        </p:spPr>
      </p:pic>
      <p:sp>
        <p:nvSpPr>
          <p:cNvPr id="4" name="engineer-head">
            <a:extLst xmlns:a="http://schemas.openxmlformats.org/drawingml/2006/main">
              <a:ext uri="{FF2B5EF4-FFF2-40B4-BE49-F238E27FC236}">
                <a16:creationId xmlns:a16="http://schemas.microsoft.com/office/drawing/2014/main" id="{97E8ED30-751A-4224-9C50-1BC265B4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2028825"/>
            <a:ext cx="609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85E88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285E88"/>
                </a:solidFill>
                <a:latin typeface="Heiti TC"/>
                <a:ea typeface="Heiti TC"/>
                <a:cs typeface="Heiti TC"/>
              </a:rPr>
              <a:t>工程师说清需求，AI 执行搜索</a:t>
            </a:r>
          </a:p>
        </p:txBody>
      </p:sp>
      <p:sp>
        <p:nvSpPr>
          <p:cNvPr id="5" name="requirement0">
            <a:extLst xmlns:a="http://schemas.openxmlformats.org/drawingml/2006/main">
              <a:ext uri="{FF2B5EF4-FFF2-40B4-BE49-F238E27FC236}">
                <a16:creationId xmlns:a16="http://schemas.microsoft.com/office/drawing/2014/main" id="{68A7280E-E9C1-4906-A531-67B53FA10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2667000"/>
            <a:ext cx="6096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72B40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B40"/>
                </a:solidFill>
                <a:latin typeface="Heiti TC"/>
                <a:ea typeface="Heiti TC"/>
                <a:cs typeface="Heiti TC"/>
              </a:rPr>
              <a:t>IGZO 驱动管，≤2 电容、≤5 组控制</a:t>
            </a:r>
          </a:p>
        </p:txBody>
      </p:sp>
      <p:sp>
        <p:nvSpPr>
          <p:cNvPr id="6" name="requirement1">
            <a:extLst xmlns:a="http://schemas.openxmlformats.org/drawingml/2006/main">
              <a:ext uri="{FF2B5EF4-FFF2-40B4-BE49-F238E27FC236}">
                <a16:creationId xmlns:a16="http://schemas.microsoft.com/office/drawing/2014/main" id="{348F81C0-3E9C-429D-8A35-3C377CE38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086100"/>
            <a:ext cx="6096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72B40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B40"/>
                </a:solidFill>
                <a:latin typeface="Heiti TC"/>
                <a:ea typeface="Heiti TC"/>
                <a:cs typeface="Heiti TC"/>
              </a:rPr>
              <a:t>开关管可选 LTPS 或 IGZO</a:t>
            </a:r>
          </a:p>
        </p:txBody>
      </p:sp>
      <p:sp>
        <p:nvSpPr>
          <p:cNvPr id="7" name="requirement2">
            <a:extLst xmlns:a="http://schemas.openxmlformats.org/drawingml/2006/main">
              <a:ext uri="{FF2B5EF4-FFF2-40B4-BE49-F238E27FC236}">
                <a16:creationId xmlns:a16="http://schemas.microsoft.com/office/drawing/2014/main" id="{D616F3D3-6822-4277-80D6-76A514721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505200"/>
            <a:ext cx="6096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72B40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B40"/>
                </a:solidFill>
                <a:latin typeface="Heiti TC"/>
                <a:ea typeface="Heiti TC"/>
                <a:cs typeface="Heiti TC"/>
              </a:rPr>
              <a:t>阈值补偿与 DATA 写入分离</a:t>
            </a:r>
          </a:p>
        </p:txBody>
      </p:sp>
      <p:sp>
        <p:nvSpPr>
          <p:cNvPr id="8" name="requirement3">
            <a:extLst xmlns:a="http://schemas.openxmlformats.org/drawingml/2006/main">
              <a:ext uri="{FF2B5EF4-FFF2-40B4-BE49-F238E27FC236}">
                <a16:creationId xmlns:a16="http://schemas.microsoft.com/office/drawing/2014/main" id="{D0A73EAB-CE18-47D6-A222-BA28327CE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924300"/>
            <a:ext cx="6096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72B40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B40"/>
                </a:solidFill>
                <a:latin typeface="Heiti TC"/>
                <a:ea typeface="Heiti TC"/>
                <a:cs typeface="Heiti TC"/>
              </a:rPr>
              <a:t>压缩写入，优先保持栅源电压稳定</a:t>
            </a:r>
          </a:p>
        </p:txBody>
      </p:sp>
      <p:sp>
        <p:nvSpPr>
          <p:cNvPr id="9" name="reuse-head">
            <a:extLst xmlns:a="http://schemas.openxmlformats.org/drawingml/2006/main">
              <a:ext uri="{FF2B5EF4-FFF2-40B4-BE49-F238E27FC236}">
                <a16:creationId xmlns:a16="http://schemas.microsoft.com/office/drawing/2014/main" id="{C7574D1C-817E-4823-AD6C-D3DCC32B5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4667250"/>
            <a:ext cx="609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285E88"/>
                </a:solidFill>
                <a:latin typeface="Heiti TC"/>
                <a:ea typeface="Heiti TC"/>
                <a:cs typeface="Heiti TC"/>
              </a:defRPr>
            </a:pPr>
            <a:r>
              <a:rPr sz="2475" b="1">
                <a:solidFill>
                  <a:srgbClr val="285E88"/>
                </a:solidFill>
                <a:latin typeface="Heiti TC"/>
                <a:ea typeface="Heiti TC"/>
                <a:cs typeface="Heiti TC"/>
              </a:rPr>
              <a:t>复用已有工程，形成可追溯结果</a:t>
            </a:r>
          </a:p>
        </p:txBody>
      </p:sp>
      <p:sp>
        <p:nvSpPr>
          <p:cNvPr id="10" name="reuse-model">
            <a:extLst xmlns:a="http://schemas.openxmlformats.org/drawingml/2006/main">
              <a:ext uri="{FF2B5EF4-FFF2-40B4-BE49-F238E27FC236}">
                <a16:creationId xmlns:a16="http://schemas.microsoft.com/office/drawing/2014/main" id="{071AB3D3-D0EB-43C0-8170-CC57E83D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5210175"/>
            <a:ext cx="609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72B40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B40"/>
                </a:solidFill>
                <a:latin typeface="Heiti TC"/>
                <a:ea typeface="Heiti TC"/>
                <a:cs typeface="Heiti TC"/>
              </a:rPr>
              <a:t>器件模型、网表和仿真脚本</a:t>
            </a:r>
          </a:p>
        </p:txBody>
      </p:sp>
      <p:sp>
        <p:nvSpPr>
          <p:cNvPr id="11" name="reuse-audit">
            <a:extLst xmlns:a="http://schemas.openxmlformats.org/drawingml/2006/main">
              <a:ext uri="{FF2B5EF4-FFF2-40B4-BE49-F238E27FC236}">
                <a16:creationId xmlns:a16="http://schemas.microsoft.com/office/drawing/2014/main" id="{766A6691-F0BF-44A6-A0FD-56BA8F0DF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5629275"/>
            <a:ext cx="609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72B40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B40"/>
                </a:solidFill>
                <a:latin typeface="Heiti TC"/>
                <a:ea typeface="Heiti TC"/>
                <a:cs typeface="Heiti TC"/>
              </a:rPr>
              <a:t>枚举结构与时序，保留每条淘汰原因</a:t>
            </a:r>
          </a:p>
        </p:txBody>
      </p:sp>
      <p:sp>
        <p:nvSpPr>
          <p:cNvPr id="12" name="stat-label0">
            <a:extLst xmlns:a="http://schemas.openxmlformats.org/drawingml/2006/main">
              <a:ext uri="{FF2B5EF4-FFF2-40B4-BE49-F238E27FC236}">
                <a16:creationId xmlns:a16="http://schemas.microsoft.com/office/drawing/2014/main" id="{1EADB7DD-DBE9-4BFB-A7BA-A9F7C4332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913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36578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536578"/>
                </a:solidFill>
                <a:latin typeface="Heiti TC"/>
                <a:ea typeface="Heiti TC"/>
                <a:cs typeface="Heiti TC"/>
              </a:rPr>
              <a:t>结构与阶段组合</a:t>
            </a:r>
          </a:p>
        </p:txBody>
      </p:sp>
      <p:sp>
        <p:nvSpPr>
          <p:cNvPr id="13" name="stat-count0">
            <a:extLst xmlns:a="http://schemas.openxmlformats.org/drawingml/2006/main">
              <a:ext uri="{FF2B5EF4-FFF2-40B4-BE49-F238E27FC236}">
                <a16:creationId xmlns:a16="http://schemas.microsoft.com/office/drawing/2014/main" id="{EF548945-540B-4010-812F-F70AADCFF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981825"/>
            <a:ext cx="3238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85E88"/>
                </a:solidFill>
                <a:latin typeface="Heiti TC"/>
                <a:ea typeface="Heiti TC"/>
                <a:cs typeface="Heiti TC"/>
              </a:defRPr>
            </a:pPr>
            <a:r>
              <a:rPr sz="3450" b="1">
                <a:solidFill>
                  <a:srgbClr val="285E88"/>
                </a:solidFill>
                <a:latin typeface="Heiti TC"/>
                <a:ea typeface="Heiti TC"/>
                <a:cs typeface="Heiti TC"/>
              </a:rPr>
              <a:t>3,024</a:t>
            </a:r>
          </a:p>
        </p:txBody>
      </p:sp>
      <p:sp>
        <p:nvSpPr>
          <p:cNvPr id="14" name="stat-label1">
            <a:extLst xmlns:a="http://schemas.openxmlformats.org/drawingml/2006/main">
              <a:ext uri="{FF2B5EF4-FFF2-40B4-BE49-F238E27FC236}">
                <a16:creationId xmlns:a16="http://schemas.microsoft.com/office/drawing/2014/main" id="{0C5EFCEA-A4FA-45EE-93A5-C565DA2E0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5913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36578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536578"/>
                </a:solidFill>
                <a:latin typeface="Heiti TC"/>
                <a:ea typeface="Heiti TC"/>
                <a:cs typeface="Heiti TC"/>
              </a:rPr>
              <a:t>控制预算／短路检查后</a:t>
            </a:r>
          </a:p>
        </p:txBody>
      </p:sp>
      <p:sp>
        <p:nvSpPr>
          <p:cNvPr id="15" name="stat-count1">
            <a:extLst xmlns:a="http://schemas.openxmlformats.org/drawingml/2006/main">
              <a:ext uri="{FF2B5EF4-FFF2-40B4-BE49-F238E27FC236}">
                <a16:creationId xmlns:a16="http://schemas.microsoft.com/office/drawing/2014/main" id="{AF0D1B8A-8702-4227-AABB-FD3F69F43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981825"/>
            <a:ext cx="3238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85E88"/>
                </a:solidFill>
                <a:latin typeface="Heiti TC"/>
                <a:ea typeface="Heiti TC"/>
                <a:cs typeface="Heiti TC"/>
              </a:defRPr>
            </a:pPr>
            <a:r>
              <a:rPr sz="3450" b="1">
                <a:solidFill>
                  <a:srgbClr val="285E88"/>
                </a:solidFill>
                <a:latin typeface="Heiti TC"/>
                <a:ea typeface="Heiti TC"/>
                <a:cs typeface="Heiti TC"/>
              </a:rPr>
              <a:t>1,134</a:t>
            </a:r>
          </a:p>
        </p:txBody>
      </p:sp>
      <p:sp>
        <p:nvSpPr>
          <p:cNvPr id="16" name="stat-label2">
            <a:extLst xmlns:a="http://schemas.openxmlformats.org/drawingml/2006/main">
              <a:ext uri="{FF2B5EF4-FFF2-40B4-BE49-F238E27FC236}">
                <a16:creationId xmlns:a16="http://schemas.microsoft.com/office/drawing/2014/main" id="{A9531CB5-3804-41C9-8B60-F83567B31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5913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36578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536578"/>
                </a:solidFill>
                <a:latin typeface="Heiti TC"/>
                <a:ea typeface="Heiti TC"/>
                <a:cs typeface="Heiti TC"/>
              </a:rPr>
              <a:t>跨阶段功能通过</a:t>
            </a:r>
          </a:p>
        </p:txBody>
      </p:sp>
      <p:sp>
        <p:nvSpPr>
          <p:cNvPr id="17" name="stat-count2">
            <a:extLst xmlns:a="http://schemas.openxmlformats.org/drawingml/2006/main">
              <a:ext uri="{FF2B5EF4-FFF2-40B4-BE49-F238E27FC236}">
                <a16:creationId xmlns:a16="http://schemas.microsoft.com/office/drawing/2014/main" id="{F4E2D51A-AFDA-4CDF-BF4A-188D2E864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981825"/>
            <a:ext cx="3238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85E88"/>
                </a:solidFill>
                <a:latin typeface="Heiti TC"/>
                <a:ea typeface="Heiti TC"/>
                <a:cs typeface="Heiti TC"/>
              </a:defRPr>
            </a:pPr>
            <a:r>
              <a:rPr sz="3450" b="1">
                <a:solidFill>
                  <a:srgbClr val="285E88"/>
                </a:solidFill>
                <a:latin typeface="Heiti TC"/>
                <a:ea typeface="Heiti TC"/>
                <a:cs typeface="Heiti TC"/>
              </a:rPr>
              <a:t>5</a:t>
            </a:r>
          </a:p>
        </p:txBody>
      </p:sp>
      <p:sp>
        <p:nvSpPr>
          <p:cNvPr id="18" name="stat-label3">
            <a:extLst xmlns:a="http://schemas.openxmlformats.org/drawingml/2006/main">
              <a:ext uri="{FF2B5EF4-FFF2-40B4-BE49-F238E27FC236}">
                <a16:creationId xmlns:a16="http://schemas.microsoft.com/office/drawing/2014/main" id="{A3B04CB0-EA1A-446B-B231-B898515B9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913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36578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536578"/>
                </a:solidFill>
                <a:latin typeface="Heiti TC"/>
                <a:ea typeface="Heiti TC"/>
                <a:cs typeface="Heiti TC"/>
              </a:rPr>
              <a:t>参数与时长降阶评估</a:t>
            </a:r>
          </a:p>
        </p:txBody>
      </p:sp>
      <p:sp>
        <p:nvSpPr>
          <p:cNvPr id="19" name="stat-count3">
            <a:extLst xmlns:a="http://schemas.openxmlformats.org/drawingml/2006/main">
              <a:ext uri="{FF2B5EF4-FFF2-40B4-BE49-F238E27FC236}">
                <a16:creationId xmlns:a16="http://schemas.microsoft.com/office/drawing/2014/main" id="{B93832C5-7977-406E-8568-7DB6797FA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981825"/>
            <a:ext cx="3238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85E88"/>
                </a:solidFill>
                <a:latin typeface="Heiti TC"/>
                <a:ea typeface="Heiti TC"/>
                <a:cs typeface="Heiti TC"/>
              </a:defRPr>
            </a:pPr>
            <a:r>
              <a:rPr sz="3450" b="1">
                <a:solidFill>
                  <a:srgbClr val="285E88"/>
                </a:solidFill>
                <a:latin typeface="Heiti TC"/>
                <a:ea typeface="Heiti TC"/>
                <a:cs typeface="Heiti TC"/>
              </a:rPr>
              <a:t>55,296</a:t>
            </a:r>
          </a:p>
        </p:txBody>
      </p:sp>
      <p:sp>
        <p:nvSpPr>
          <p:cNvPr id="20" name="stat-label4">
            <a:extLst xmlns:a="http://schemas.openxmlformats.org/drawingml/2006/main">
              <a:ext uri="{FF2B5EF4-FFF2-40B4-BE49-F238E27FC236}">
                <a16:creationId xmlns:a16="http://schemas.microsoft.com/office/drawing/2014/main" id="{3B51BFA4-8CC6-41EA-8807-D77037F8F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65913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36578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536578"/>
                </a:solidFill>
                <a:latin typeface="Heiti TC"/>
                <a:ea typeface="Heiti TC"/>
                <a:cs typeface="Heiti TC"/>
              </a:rPr>
              <a:t>Top 10 行为 SPICE 复核</a:t>
            </a:r>
          </a:p>
        </p:txBody>
      </p:sp>
      <p:sp>
        <p:nvSpPr>
          <p:cNvPr id="21" name="stat-count4">
            <a:extLst xmlns:a="http://schemas.openxmlformats.org/drawingml/2006/main">
              <a:ext uri="{FF2B5EF4-FFF2-40B4-BE49-F238E27FC236}">
                <a16:creationId xmlns:a16="http://schemas.microsoft.com/office/drawing/2014/main" id="{263C85E2-498B-4922-8155-6430E2DB0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6981825"/>
            <a:ext cx="3238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85E88"/>
                </a:solidFill>
                <a:latin typeface="Heiti TC"/>
                <a:ea typeface="Heiti TC"/>
                <a:cs typeface="Heiti TC"/>
              </a:defRPr>
            </a:pPr>
            <a:r>
              <a:rPr sz="3450" b="1">
                <a:solidFill>
                  <a:srgbClr val="285E88"/>
                </a:solidFill>
                <a:latin typeface="Heiti TC"/>
                <a:ea typeface="Heiti TC"/>
                <a:cs typeface="Heiti TC"/>
              </a:rPr>
              <a:t>90</a:t>
            </a:r>
          </a:p>
        </p:txBody>
      </p:sp>
      <p:sp>
        <p:nvSpPr>
          <p:cNvPr id="22" name="section-divider">
            <a:extLst xmlns:a="http://schemas.openxmlformats.org/drawingml/2006/main">
              <a:ext uri="{FF2B5EF4-FFF2-40B4-BE49-F238E27FC236}">
                <a16:creationId xmlns:a16="http://schemas.microsoft.com/office/drawing/2014/main" id="{CF843039-CA07-412E-85B0-1DE520478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39050"/>
            <a:ext cx="16954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9E2"/>
          </a:solidFill>
          <a:ln xmlns:a="http://schemas.openxmlformats.org/drawingml/2006/main" w="0">
            <a:noFill/>
          </a:ln>
        </p:spPr>
      </p:sp>
      <p:sp>
        <p:nvSpPr>
          <p:cNvPr id="23" name="circuit-head">
            <a:extLst xmlns:a="http://schemas.openxmlformats.org/drawingml/2006/main">
              <a:ext uri="{FF2B5EF4-FFF2-40B4-BE49-F238E27FC236}">
                <a16:creationId xmlns:a16="http://schemas.microsoft.com/office/drawing/2014/main" id="{AA8DA004-71E9-4D45-9221-6E56077E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791450"/>
            <a:ext cx="519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85E88"/>
                </a:solidFill>
                <a:latin typeface="Heiti TC"/>
                <a:ea typeface="Heiti TC"/>
                <a:cs typeface="Heiti TC"/>
              </a:defRPr>
            </a:pPr>
            <a:r>
              <a:rPr sz="2325" b="1">
                <a:solidFill>
                  <a:srgbClr val="285E88"/>
                </a:solidFill>
                <a:latin typeface="Heiti TC"/>
                <a:ea typeface="Heiti TC"/>
                <a:cs typeface="Heiti TC"/>
              </a:rPr>
              <a:t>优选骨架</a:t>
            </a:r>
          </a:p>
        </p:txBody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d89b25a08f4b4d"/>
          <a:stretch xmlns:a="http://schemas.openxmlformats.org/drawingml/2006/main"/>
        </p:blipFill>
        <p:spPr>
          <a:xfrm xmlns:a="http://schemas.openxmlformats.org/drawingml/2006/main">
            <a:off x="666750" y="8210550"/>
            <a:ext cx="2886075" cy="1924050"/>
          </a:xfrm>
          <a:prstGeom xmlns:a="http://schemas.openxmlformats.org/drawingml/2006/main" prst="rect">
            <a:avLst/>
          </a:prstGeom>
        </p:spPr>
      </p:pic>
      <p:sp>
        <p:nvSpPr>
          <p:cNvPr id="25" name="skeleton-size">
            <a:extLst xmlns:a="http://schemas.openxmlformats.org/drawingml/2006/main">
              <a:ext uri="{FF2B5EF4-FFF2-40B4-BE49-F238E27FC236}">
                <a16:creationId xmlns:a16="http://schemas.microsoft.com/office/drawing/2014/main" id="{6D58091A-FF22-4C25-9A83-02B38B9C7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8429625"/>
            <a:ext cx="2095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85E88"/>
                </a:solidFill>
                <a:latin typeface="Heiti TC"/>
                <a:ea typeface="Heiti TC"/>
                <a:cs typeface="Heiti TC"/>
              </a:defRPr>
            </a:pPr>
            <a:r>
              <a:rPr sz="2625" b="1">
                <a:solidFill>
                  <a:srgbClr val="285E88"/>
                </a:solidFill>
                <a:latin typeface="Heiti TC"/>
                <a:ea typeface="Heiti TC"/>
                <a:cs typeface="Heiti TC"/>
              </a:rPr>
              <a:t>6T2C</a:t>
            </a:r>
          </a:p>
        </p:txBody>
      </p:sp>
      <p:sp>
        <p:nvSpPr>
          <p:cNvPr id="26" name="skeleton-control">
            <a:extLst xmlns:a="http://schemas.openxmlformats.org/drawingml/2006/main">
              <a:ext uri="{FF2B5EF4-FFF2-40B4-BE49-F238E27FC236}">
                <a16:creationId xmlns:a16="http://schemas.microsoft.com/office/drawing/2014/main" id="{488F3A80-F64F-42DF-A7EA-7F5DFB7DC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89058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72B40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72B40"/>
                </a:solidFill>
                <a:latin typeface="Heiti TC"/>
                <a:ea typeface="Heiti TC"/>
                <a:cs typeface="Heiti TC"/>
              </a:rPr>
              <a:t>4 组控制</a:t>
            </a:r>
          </a:p>
        </p:txBody>
      </p:sp>
      <p:sp>
        <p:nvSpPr>
          <p:cNvPr id="27" name="skeleton-caps">
            <a:extLst xmlns:a="http://schemas.openxmlformats.org/drawingml/2006/main">
              <a:ext uri="{FF2B5EF4-FFF2-40B4-BE49-F238E27FC236}">
                <a16:creationId xmlns:a16="http://schemas.microsoft.com/office/drawing/2014/main" id="{143E122D-F90D-4D49-9F70-6513BDD35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93059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72B40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72B40"/>
                </a:solidFill>
                <a:latin typeface="Heiti TC"/>
                <a:ea typeface="Heiti TC"/>
                <a:cs typeface="Heiti TC"/>
              </a:rPr>
              <a:t>G–S / G–X</a:t>
            </a:r>
          </a:p>
        </p:txBody>
      </p:sp>
      <p:sp>
        <p:nvSpPr>
          <p:cNvPr id="28" name="timing-head">
            <a:extLst xmlns:a="http://schemas.openxmlformats.org/drawingml/2006/main">
              <a:ext uri="{FF2B5EF4-FFF2-40B4-BE49-F238E27FC236}">
                <a16:creationId xmlns:a16="http://schemas.microsoft.com/office/drawing/2014/main" id="{6F4C9EE5-BC04-4433-9A44-04C8AA21D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7791450"/>
            <a:ext cx="5667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85E88"/>
                </a:solidFill>
                <a:latin typeface="Heiti TC"/>
                <a:ea typeface="Heiti TC"/>
                <a:cs typeface="Heiti TC"/>
              </a:defRPr>
            </a:pPr>
            <a:r>
              <a:rPr sz="2325" b="1">
                <a:solidFill>
                  <a:srgbClr val="285E88"/>
                </a:solidFill>
                <a:latin typeface="Heiti TC"/>
                <a:ea typeface="Heiti TC"/>
                <a:cs typeface="Heiti TC"/>
              </a:rPr>
              <a:t>配套时序：先补偿，再写入</a:t>
            </a:r>
          </a:p>
        </p:txBody>
      </p: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197c97f6eb44c0"/>
          <a:stretch xmlns:a="http://schemas.openxmlformats.org/drawingml/2006/main"/>
        </p:blipFill>
        <p:spPr>
          <a:xfrm xmlns:a="http://schemas.openxmlformats.org/drawingml/2006/main">
            <a:off x="6477000" y="8183682"/>
            <a:ext cx="5381625" cy="2034935"/>
          </a:xfrm>
          <a:prstGeom xmlns:a="http://schemas.openxmlformats.org/drawingml/2006/main" prst="rect">
            <a:avLst/>
          </a:prstGeom>
        </p:spPr>
      </p:pic>
      <p:sp>
        <p:nvSpPr>
          <p:cNvPr id="30" name="metrics-head">
            <a:extLst xmlns:a="http://schemas.openxmlformats.org/drawingml/2006/main">
              <a:ext uri="{FF2B5EF4-FFF2-40B4-BE49-F238E27FC236}">
                <a16:creationId xmlns:a16="http://schemas.microsoft.com/office/drawing/2014/main" id="{D12A8A3C-F049-4AE1-B46D-A80CBD400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7791450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85E88"/>
                </a:solidFill>
                <a:latin typeface="Heiti TC"/>
                <a:ea typeface="Heiti TC"/>
                <a:cs typeface="Heiti TC"/>
              </a:defRPr>
            </a:pPr>
            <a:r>
              <a:rPr sz="2325" b="1">
                <a:solidFill>
                  <a:srgbClr val="285E88"/>
                </a:solidFill>
                <a:latin typeface="Heiti TC"/>
                <a:ea typeface="Heiti TC"/>
                <a:cs typeface="Heiti TC"/>
              </a:rPr>
              <a:t>稳定性优先的代表点</a:t>
            </a:r>
          </a:p>
        </p:txBody>
      </p:sp>
      <p:sp>
        <p:nvSpPr>
          <p:cNvPr id="31" name="metrics-cap">
            <a:extLst xmlns:a="http://schemas.openxmlformats.org/drawingml/2006/main">
              <a:ext uri="{FF2B5EF4-FFF2-40B4-BE49-F238E27FC236}">
                <a16:creationId xmlns:a16="http://schemas.microsoft.com/office/drawing/2014/main" id="{36ECFAB7-AB4B-49E2-A02E-381AAFD61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8305800"/>
            <a:ext cx="4857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40"/>
                </a:solidFill>
                <a:latin typeface="Heiti TC"/>
                <a:ea typeface="Heiti TC"/>
                <a:cs typeface="Heiti TC"/>
              </a:defRPr>
            </a:pPr>
            <a:r>
              <a:rPr sz="2250" b="1">
                <a:solidFill>
                  <a:srgbClr val="172B40"/>
                </a:solidFill>
                <a:latin typeface="Heiti TC"/>
                <a:ea typeface="Heiti TC"/>
                <a:cs typeface="Heiti TC"/>
              </a:rPr>
              <a:t>640 / 20 fF</a:t>
            </a:r>
          </a:p>
        </p:txBody>
      </p:sp>
      <p:sp>
        <p:nvSpPr>
          <p:cNvPr id="32" name="metrics-gain">
            <a:extLst xmlns:a="http://schemas.openxmlformats.org/drawingml/2006/main">
              <a:ext uri="{FF2B5EF4-FFF2-40B4-BE49-F238E27FC236}">
                <a16:creationId xmlns:a16="http://schemas.microsoft.com/office/drawing/2014/main" id="{E17A93A1-94FE-4D0C-975A-E21704CEF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8743950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B40"/>
                </a:solidFill>
                <a:latin typeface="Heiti TC"/>
                <a:ea typeface="Heiti TC"/>
                <a:cs typeface="Heiti TC"/>
              </a:defRPr>
            </a:pPr>
            <a:r>
              <a:rPr sz="2025" b="0">
                <a:solidFill>
                  <a:srgbClr val="172B40"/>
                </a:solidFill>
                <a:latin typeface="Heiti TC"/>
                <a:ea typeface="Heiti TC"/>
                <a:cs typeface="Heiti TC"/>
              </a:rPr>
              <a:t>写入增益 0.030，源极敏感度 0.748%</a:t>
            </a:r>
          </a:p>
        </p:txBody>
      </p:sp>
      <p:sp>
        <p:nvSpPr>
          <p:cNvPr id="33" name="result-scope">
            <a:extLst xmlns:a="http://schemas.openxmlformats.org/drawingml/2006/main">
              <a:ext uri="{FF2B5EF4-FFF2-40B4-BE49-F238E27FC236}">
                <a16:creationId xmlns:a16="http://schemas.microsoft.com/office/drawing/2014/main" id="{A7470867-22E6-4CE8-9280-498B1464D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9296400"/>
            <a:ext cx="4857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578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36578"/>
                </a:solidFill>
                <a:latin typeface="Heiti TC"/>
                <a:ea typeface="Heiti TC"/>
                <a:cs typeface="Heiti TC"/>
              </a:rPr>
              <a:t>5 个实现共享核心连接</a:t>
            </a:r>
          </a:p>
          <a:p xmlns:a="http://schemas.openxmlformats.org/drawingml/2006/main">
            <a:pPr algn="l">
              <a:defRPr sz="1725" b="0">
                <a:solidFill>
                  <a:srgbClr val="536578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36578"/>
                </a:solidFill>
                <a:latin typeface="Heiti TC"/>
                <a:ea typeface="Heiti TC"/>
                <a:cs typeface="Heiti TC"/>
              </a:rPr>
              <a:t>Top 10 为有限域参数与时序组合</a:t>
            </a:r>
          </a:p>
          <a:p xmlns:a="http://schemas.openxmlformats.org/drawingml/2006/main">
            <a:pPr algn="l">
              <a:defRPr sz="1725" b="0">
                <a:solidFill>
                  <a:srgbClr val="536578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36578"/>
                </a:solidFill>
                <a:latin typeface="Heiti TC"/>
                <a:ea typeface="Heiti TC"/>
                <a:cs typeface="Heiti TC"/>
              </a:rPr>
              <a:t>行为模型结果，非 PDK 签核</a:t>
            </a:r>
          </a:p>
        </p:txBody>
      </p:sp>
    </p:spTree>
    <p:extLst>
      <p:ext uri="{BB962C8B-B14F-4D97-AF65-F5344CB8AC3E}">
        <p14:creationId xmlns:p14="http://schemas.microsoft.com/office/powerpoint/2010/main" val="5357800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">
            <a:extLst xmlns:a="http://schemas.openxmlformats.org/drawingml/2006/main">
              <a:ext uri="{FF2B5EF4-FFF2-40B4-BE49-F238E27FC236}">
                <a16:creationId xmlns:a16="http://schemas.microsoft.com/office/drawing/2014/main" id="{2705272D-1EFE-48D3-AEC3-DEC37CF9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695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2B40"/>
                </a:solidFill>
                <a:latin typeface="Heiti TC"/>
                <a:ea typeface="Heiti TC"/>
                <a:cs typeface="Heiti TC"/>
              </a:defRPr>
            </a:pPr>
            <a:r>
              <a:rPr sz="4350" b="1">
                <a:solidFill>
                  <a:srgbClr val="172B40"/>
                </a:solidFill>
                <a:latin typeface="Heiti TC"/>
                <a:ea typeface="Heiti TC"/>
                <a:cs typeface="Heiti TC"/>
              </a:rPr>
              <a:t>AI 能否发现更优电路？让拓扑搜索与参数学习协同进化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CA02BEA-93DF-469E-9EA6-0682CACE4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85875"/>
            <a:ext cx="1676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36578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36578"/>
                </a:solidFill>
                <a:latin typeface="Heiti TC"/>
                <a:ea typeface="Heiti TC"/>
                <a:cs typeface="Heiti TC"/>
              </a:rPr>
              <a:t>面向更大设计空间的优化器架构：离散外层提出连接，连续内层学习参数，仿真结果驱动迭代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ae17967fc84be2"/>
          <a:stretch xmlns:a="http://schemas.openxmlformats.org/drawingml/2006/main"/>
        </p:blipFill>
        <p:spPr>
          <a:xfrm xmlns:a="http://schemas.openxmlformats.org/drawingml/2006/main">
            <a:off x="523875" y="2080192"/>
            <a:ext cx="12620625" cy="7031491"/>
          </a:xfrm>
          <a:prstGeom xmlns:a="http://schemas.openxmlformats.org/drawingml/2006/main" prst="rect">
            <a:avLst/>
          </a:prstGeom>
        </p:spPr>
      </p:pic>
      <p:sp>
        <p:nvSpPr>
          <p:cNvPr id="4" name="implementation">
            <a:extLst xmlns:a="http://schemas.openxmlformats.org/drawingml/2006/main">
              <a:ext uri="{FF2B5EF4-FFF2-40B4-BE49-F238E27FC236}">
                <a16:creationId xmlns:a16="http://schemas.microsoft.com/office/drawing/2014/main" id="{11561C50-7BE1-4E67-92A9-E593378A5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8375" y="2076450"/>
            <a:ext cx="3952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85E88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285E88"/>
                </a:solidFill>
                <a:latin typeface="Heiti TC"/>
                <a:ea typeface="Heiti TC"/>
                <a:cs typeface="Heiti TC"/>
              </a:rPr>
              <a:t>优化器如何落地</a:t>
            </a:r>
          </a:p>
        </p:txBody>
      </p:sp>
      <p:sp>
        <p:nvSpPr>
          <p:cNvPr id="5" name="recipe-head0">
            <a:extLst xmlns:a="http://schemas.openxmlformats.org/drawingml/2006/main">
              <a:ext uri="{FF2B5EF4-FFF2-40B4-BE49-F238E27FC236}">
                <a16:creationId xmlns:a16="http://schemas.microsoft.com/office/drawing/2014/main" id="{89B49A62-D39B-425B-A3BA-AD2BD974D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8375" y="2924175"/>
            <a:ext cx="3952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85E88"/>
                </a:solidFill>
                <a:latin typeface="Heiti TC"/>
                <a:ea typeface="Heiti TC"/>
                <a:cs typeface="Heiti TC"/>
              </a:defRPr>
            </a:pPr>
            <a:r>
              <a:rPr sz="2175" b="1">
                <a:solidFill>
                  <a:srgbClr val="285E88"/>
                </a:solidFill>
                <a:latin typeface="Heiti TC"/>
                <a:ea typeface="Heiti TC"/>
                <a:cs typeface="Heiti TC"/>
              </a:rPr>
              <a:t>离散结构：先保证合法</a:t>
            </a:r>
          </a:p>
        </p:txBody>
      </p:sp>
      <p:sp>
        <p:nvSpPr>
          <p:cNvPr id="6" name="recipe-0-0">
            <a:extLst xmlns:a="http://schemas.openxmlformats.org/drawingml/2006/main">
              <a:ext uri="{FF2B5EF4-FFF2-40B4-BE49-F238E27FC236}">
                <a16:creationId xmlns:a16="http://schemas.microsoft.com/office/drawing/2014/main" id="{40BF1CB4-B165-41FD-9BD5-1878767E5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8375" y="3438525"/>
            <a:ext cx="3952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2B40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72B40"/>
                </a:solidFill>
                <a:latin typeface="Heiti TC"/>
                <a:ea typeface="Heiti TC"/>
                <a:cs typeface="Heiti TC"/>
              </a:rPr>
              <a:t>用端口属性约束图变异</a:t>
            </a:r>
          </a:p>
        </p:txBody>
      </p:sp>
      <p:sp>
        <p:nvSpPr>
          <p:cNvPr id="7" name="recipe-0-1">
            <a:extLst xmlns:a="http://schemas.openxmlformats.org/drawingml/2006/main">
              <a:ext uri="{FF2B5EF4-FFF2-40B4-BE49-F238E27FC236}">
                <a16:creationId xmlns:a16="http://schemas.microsoft.com/office/drawing/2014/main" id="{1BBEE0D4-D759-40C8-AEA0-BFDB58FF8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8375" y="3848100"/>
            <a:ext cx="3952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2B40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72B40"/>
                </a:solidFill>
                <a:latin typeface="Heiti TC"/>
                <a:ea typeface="Heiti TC"/>
                <a:cs typeface="Heiti TC"/>
              </a:rPr>
              <a:t>同构去重与跨阶段电荷审计</a:t>
            </a:r>
          </a:p>
        </p:txBody>
      </p:sp>
      <p:sp>
        <p:nvSpPr>
          <p:cNvPr id="8" name="recipe-0-2">
            <a:extLst xmlns:a="http://schemas.openxmlformats.org/drawingml/2006/main">
              <a:ext uri="{FF2B5EF4-FFF2-40B4-BE49-F238E27FC236}">
                <a16:creationId xmlns:a16="http://schemas.microsoft.com/office/drawing/2014/main" id="{5793457D-1600-417F-82F0-9E2A2E371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8375" y="4257675"/>
            <a:ext cx="3952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2B40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72B40"/>
                </a:solidFill>
                <a:latin typeface="Heiti TC"/>
                <a:ea typeface="Heiti TC"/>
                <a:cs typeface="Heiti TC"/>
              </a:rPr>
              <a:t>进化搜索＋LLM 提出候选</a:t>
            </a:r>
          </a:p>
        </p:txBody>
      </p:sp>
      <p:sp>
        <p:nvSpPr>
          <p:cNvPr id="9" name="recipe-head1">
            <a:extLst xmlns:a="http://schemas.openxmlformats.org/drawingml/2006/main">
              <a:ext uri="{FF2B5EF4-FFF2-40B4-BE49-F238E27FC236}">
                <a16:creationId xmlns:a16="http://schemas.microsoft.com/office/drawing/2014/main" id="{75DACB65-11E9-4B41-86E9-8E52DA860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8375" y="4914900"/>
            <a:ext cx="3952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85E88"/>
                </a:solidFill>
                <a:latin typeface="Heiti TC"/>
                <a:ea typeface="Heiti TC"/>
                <a:cs typeface="Heiti TC"/>
              </a:defRPr>
            </a:pPr>
            <a:r>
              <a:rPr sz="2175" b="1">
                <a:solidFill>
                  <a:srgbClr val="285E88"/>
                </a:solidFill>
                <a:latin typeface="Heiti TC"/>
                <a:ea typeface="Heiti TC"/>
                <a:cs typeface="Heiti TC"/>
              </a:rPr>
              <a:t>连续参数：用样本学方向</a:t>
            </a:r>
          </a:p>
        </p:txBody>
      </p:sp>
      <p:sp>
        <p:nvSpPr>
          <p:cNvPr id="10" name="recipe-1-0">
            <a:extLst xmlns:a="http://schemas.openxmlformats.org/drawingml/2006/main">
              <a:ext uri="{FF2B5EF4-FFF2-40B4-BE49-F238E27FC236}">
                <a16:creationId xmlns:a16="http://schemas.microsoft.com/office/drawing/2014/main" id="{34589F3C-4CE9-499F-B560-AB35F3D30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8375" y="5429250"/>
            <a:ext cx="3952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2B40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72B40"/>
                </a:solidFill>
                <a:latin typeface="Heiti TC"/>
                <a:ea typeface="Heiti TC"/>
                <a:cs typeface="Heiti TC"/>
              </a:rPr>
              <a:t>小样本先用贝叶斯优化</a:t>
            </a:r>
          </a:p>
        </p:txBody>
      </p:sp>
      <p:sp>
        <p:nvSpPr>
          <p:cNvPr id="11" name="recipe-1-1">
            <a:extLst xmlns:a="http://schemas.openxmlformats.org/drawingml/2006/main">
              <a:ext uri="{FF2B5EF4-FFF2-40B4-BE49-F238E27FC236}">
                <a16:creationId xmlns:a16="http://schemas.microsoft.com/office/drawing/2014/main" id="{1B123155-3510-4F2A-AE6B-B9BDF8321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8375" y="5838825"/>
            <a:ext cx="3952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2B40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72B40"/>
                </a:solidFill>
                <a:latin typeface="Heiti TC"/>
                <a:ea typeface="Heiti TC"/>
                <a:cs typeface="Heiti TC"/>
              </a:rPr>
              <a:t>数据积累后训练神经代理</a:t>
            </a:r>
          </a:p>
        </p:txBody>
      </p:sp>
      <p:sp>
        <p:nvSpPr>
          <p:cNvPr id="12" name="recipe-1-2">
            <a:extLst xmlns:a="http://schemas.openxmlformats.org/drawingml/2006/main">
              <a:ext uri="{FF2B5EF4-FFF2-40B4-BE49-F238E27FC236}">
                <a16:creationId xmlns:a16="http://schemas.microsoft.com/office/drawing/2014/main" id="{0B37E227-49D9-4CEA-AB46-FEB8BD80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8375" y="6248400"/>
            <a:ext cx="3952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2B40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72B40"/>
                </a:solidFill>
                <a:latin typeface="Heiti TC"/>
                <a:ea typeface="Heiti TC"/>
                <a:cs typeface="Heiti TC"/>
              </a:rPr>
              <a:t>用梯度优化电容、尺寸和时长</a:t>
            </a:r>
          </a:p>
        </p:txBody>
      </p:sp>
      <p:sp>
        <p:nvSpPr>
          <p:cNvPr id="13" name="recipe-head2">
            <a:extLst xmlns:a="http://schemas.openxmlformats.org/drawingml/2006/main">
              <a:ext uri="{FF2B5EF4-FFF2-40B4-BE49-F238E27FC236}">
                <a16:creationId xmlns:a16="http://schemas.microsoft.com/office/drawing/2014/main" id="{45FC5419-96D8-4F21-A379-87B50A6AE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8375" y="6905625"/>
            <a:ext cx="3952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85E88"/>
                </a:solidFill>
                <a:latin typeface="Heiti TC"/>
                <a:ea typeface="Heiti TC"/>
                <a:cs typeface="Heiti TC"/>
              </a:defRPr>
            </a:pPr>
            <a:r>
              <a:rPr sz="2175" b="1">
                <a:solidFill>
                  <a:srgbClr val="285E88"/>
                </a:solidFill>
                <a:latin typeface="Heiti TC"/>
                <a:ea typeface="Heiti TC"/>
                <a:cs typeface="Heiti TC"/>
              </a:rPr>
              <a:t>双层联动：按验证性能取舍</a:t>
            </a:r>
          </a:p>
        </p:txBody>
      </p:sp>
      <p:sp>
        <p:nvSpPr>
          <p:cNvPr id="14" name="recipe-2-0">
            <a:extLst xmlns:a="http://schemas.openxmlformats.org/drawingml/2006/main">
              <a:ext uri="{FF2B5EF4-FFF2-40B4-BE49-F238E27FC236}">
                <a16:creationId xmlns:a16="http://schemas.microsoft.com/office/drawing/2014/main" id="{C10DF870-B3C2-4196-B2CB-B6299403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8375" y="7419975"/>
            <a:ext cx="3952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2B40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72B40"/>
                </a:solidFill>
                <a:latin typeface="Heiti TC"/>
                <a:ea typeface="Heiti TC"/>
                <a:cs typeface="Heiti TC"/>
              </a:rPr>
              <a:t>给新拓扑基础仿真预算</a:t>
            </a:r>
          </a:p>
        </p:txBody>
      </p:sp>
      <p:sp>
        <p:nvSpPr>
          <p:cNvPr id="15" name="recipe-2-1">
            <a:extLst xmlns:a="http://schemas.openxmlformats.org/drawingml/2006/main">
              <a:ext uri="{FF2B5EF4-FFF2-40B4-BE49-F238E27FC236}">
                <a16:creationId xmlns:a16="http://schemas.microsoft.com/office/drawing/2014/main" id="{D6245C57-0844-4F6D-BA5C-F469A3562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8375" y="7829550"/>
            <a:ext cx="3952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2B40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72B40"/>
                </a:solidFill>
                <a:latin typeface="Heiti TC"/>
                <a:ea typeface="Heiti TC"/>
                <a:cs typeface="Heiti TC"/>
              </a:rPr>
              <a:t>代理建议交给 SPICE 复核</a:t>
            </a:r>
          </a:p>
        </p:txBody>
      </p:sp>
      <p:sp>
        <p:nvSpPr>
          <p:cNvPr id="16" name="recipe-2-2">
            <a:extLst xmlns:a="http://schemas.openxmlformats.org/drawingml/2006/main">
              <a:ext uri="{FF2B5EF4-FFF2-40B4-BE49-F238E27FC236}">
                <a16:creationId xmlns:a16="http://schemas.microsoft.com/office/drawing/2014/main" id="{4541E195-66CE-43B8-B6FE-4400DF861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8375" y="8239125"/>
            <a:ext cx="3952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2B40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72B40"/>
                </a:solidFill>
                <a:latin typeface="Heiti TC"/>
                <a:ea typeface="Heiti TC"/>
                <a:cs typeface="Heiti TC"/>
              </a:rPr>
              <a:t>按潜力与不确定性追加仿真</a:t>
            </a:r>
          </a:p>
        </p:txBody>
      </p:sp>
      <p:sp>
        <p:nvSpPr>
          <p:cNvPr id="17" name="bottom-line">
            <a:extLst xmlns:a="http://schemas.openxmlformats.org/drawingml/2006/main">
              <a:ext uri="{FF2B5EF4-FFF2-40B4-BE49-F238E27FC236}">
                <a16:creationId xmlns:a16="http://schemas.microsoft.com/office/drawing/2014/main" id="{14E05233-912E-4BEE-AA34-F653622B0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334500"/>
            <a:ext cx="16954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9E2"/>
          </a:solidFill>
          <a:ln xmlns:a="http://schemas.openxmlformats.org/drawingml/2006/main" w="0">
            <a:noFill/>
          </a:ln>
        </p:spPr>
      </p:sp>
      <p:sp>
        <p:nvSpPr>
          <p:cNvPr id="18" name="takeaway">
            <a:extLst xmlns:a="http://schemas.openxmlformats.org/drawingml/2006/main">
              <a:ext uri="{FF2B5EF4-FFF2-40B4-BE49-F238E27FC236}">
                <a16:creationId xmlns:a16="http://schemas.microsoft.com/office/drawing/2014/main" id="{8D42C62C-03BB-4957-BF9D-34232986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639300"/>
            <a:ext cx="1695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B40"/>
                </a:solidFill>
                <a:latin typeface="Heiti TC"/>
                <a:ea typeface="Heiti TC"/>
                <a:cs typeface="Heiti TC"/>
              </a:defRPr>
            </a:pPr>
            <a:r>
              <a:rPr sz="2325" b="1">
                <a:solidFill>
                  <a:srgbClr val="172B40"/>
                </a:solidFill>
                <a:latin typeface="Heiti TC"/>
                <a:ea typeface="Heiti TC"/>
                <a:cs typeface="Heiti TC"/>
              </a:rPr>
              <a:t>发现新电路的关键：用调优后的实算性能评价拓扑，并通过 PDK、寄生与老化验证</a:t>
            </a:r>
          </a:p>
        </p:txBody>
      </p:sp>
    </p:spTree>
    <p:extLst>
      <p:ext uri="{BB962C8B-B14F-4D97-AF65-F5344CB8AC3E}">
        <p14:creationId xmlns:p14="http://schemas.microsoft.com/office/powerpoint/2010/main" val="17471517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2026-09-08T14:56:42.6950000Z</dcterms:created>
  <dcterms:modified xsi:type="dcterms:W3CDTF">2026-09-08T14:56:42.6950000Z</dcterms:modified>
</coreProperties>
</file>